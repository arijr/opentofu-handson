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Abra explicando que a apresentação dura 30 minutos e antecede os laboratórios. Reforce desde o início que os exercícios usam apenas o Floci em localhost:4566, não uma conta 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Fato histórico: o manifesto OpenTofu situa a publicação do Terraform em 2014 sob Mozilla Public License 2.0. Apresente o ecossistema como resultado de anos de adoção, sem sugerir que havia uma única forma de uso. Fonte: https://opentofu.org/manifesto/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Diferencie fato e interpretação. HashiCorp anunciou a mudança em 10 de agosto de 2023. O anúncio alterou a licença aplicável às versões futuras conforme os termos publicados; evite dizer que mudou retroativamente a licença de versões antigas. Fontes: https://opentofu.org/manifesto/ e https://opentofu.org/blog/opentofu-announces-fork-of-terraform/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preocupação sobre termos potencialmente competitivos está descrita pelo manifesto e FAQ do OpenTofu. Deixe explícito que isso representa a perspectiva dos autores e apoiadores; não ofereça aconselhamento jurídico nem a apresente como consenso de toda a comunidade. Fontes: https://opentofu.org/manifesto/ e https://opentofu.org/faq/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anúncio de 25 de agosto diz que o fork foi criado. O artigo de setembro anuncia que o repositório passou a estar público; naquele momento, a primeira versão estável ainda aparecia como etapa futura. Fontes: https://opentofu.org/blog/opentofu-announces-fork-of-terraform/ e https://opentofu.org/blog/the-opentofu-fork-is-now-available/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Linux Foundation anunciou a formação do OpenTofu em 20 de setembro de 2023. A primeira versão estável 1.6.0 foi anunciada em janeiro de 2024. Diga que a estrutura de fundação apoia governança neutra, não que garante automaticamente todos os resultados futuros. Fontes: https://www.linuxfoundation.org/press/announcing-opentofu e https://opentofu.org/blog/opentofu-is-going-ga/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Esses termos refletem o posicionamento apresentado pelo projeto em seu manifesto e anúncio. Convide os alunos a distinguir objetivos de governança de garantias verificáveis. A FAQ e documentação atual ajudam a avaliar como o projeto evoluiu. Fontes: https://opentofu.org/manifesto/ e https://opentofu.org/faq/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declarativo e imperativo: em vez de instruir passo a passo cada chamada, descrevemos o resultado esperado. O plano é uma proposta, não uma garantia de que o ambiente nunca mude. Fonte: https://opentofu.org/docs/cli/commands/plan/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 exemplo do curso: provider AWS aponta explicitamente ao Floci; aws_s3_bucket declara o bucket. Inputs e outputs formam a interface de um módulo. O módulo raiz também é um módulo. Fonte: https://opentofu.org/docs/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Desenhe a sequência arquivos HCL -&gt; OpenTofu -&gt; AWS Provider -&gt; Floci local. Uma referência a atributo ou output cria dependência implícita. Use depends_on somente quando a relação não puder ser modelada por referência normal. Reforce localhost:4566: sem AWS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que o provider consulta APIs para atualizar a visão do state; drift depende de uma diferença observável, não de editar o state. State local simplifica este curso, mas não coordena colaboração. State pode conter segredos; sensitive mascara algumas saídas, não criptografa. O laboratório opcional do Dia 1 demonstra lock nativo contra o Floci. Fontes: https://opentofu.org/docs/ e https://opentofu.org/docs/language/settings/backends/s3/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Escolha uma ou duas perguntas para uma rodada rápida. Transicione para a preparação: iniciaremos Floci local e validaremos o endpoint antes de executar OpenTofu. Fontes completas: https://opentofu.org/manifesto/ ; https://opentofu.org/blog/opentofu-announces-fork-of-terraform/ ; https://opentofu.org/blog/the-opentofu-fork-is-now-available/ ; https://opentofu.org/faq/ ; https://opentofu.org/docs/ ; https://www.linuxfoundation.org/press/announcing-opentofu ; https://opentofu.org/blog/opentofu-is-going-ga/ ; https://github.com/opentofu/opentofu/releases/tag/v1.6.0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A8B8CA"/>
                </a:solidFill>
                <a:latin typeface="Aptos"/>
              </a:defRPr>
            </a:pPr>
            <a:r>
              <a:t>OPENTOFU  /  FUNDAMENTOS DE IaC                                      1 MIN  •  01/12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229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ADCC2"/>
                </a:solidFill>
                <a:latin typeface="Aptos"/>
              </a:defRPr>
            </a:pPr>
            <a:r>
              <a:t>MINICURSO • 30 MIN DE CONTEÚDO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417320"/>
            <a:ext cx="10561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800" b="1">
                <a:solidFill>
                  <a:srgbClr val="F4F8FC"/>
                </a:solidFill>
                <a:latin typeface="Aptos"/>
              </a:defRPr>
            </a:pPr>
            <a:r>
              <a:t>OpenTofu e fundamentos de IaC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60604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A8B8CA"/>
                </a:solidFill>
                <a:latin typeface="Aptos"/>
              </a:defRPr>
            </a:pPr>
            <a:r>
              <a:t>Da história do fork ao primeiro plano declarativo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3794760"/>
            <a:ext cx="3310128" cy="141732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041648"/>
            <a:ext cx="2907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O que vamos entender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462272"/>
            <a:ext cx="2907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F4F8FC"/>
                </a:solidFill>
                <a:latin typeface="Aptos"/>
              </a:defRPr>
            </a:pPr>
            <a:r>
              <a:t>História, governança e conceitos essenciais de IaC.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35424" y="3794760"/>
            <a:ext cx="3310128" cy="1417320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4041648"/>
            <a:ext cx="2907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O que vamos construir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4462272"/>
            <a:ext cx="2907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F4F8FC"/>
                </a:solidFill>
                <a:latin typeface="Aptos"/>
              </a:defRPr>
            </a:pPr>
            <a:r>
              <a:t>Um fluxo declarativo, revisável e reproduzível.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6176" y="3794760"/>
            <a:ext cx="3310128" cy="141732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67344" y="4041648"/>
            <a:ext cx="2907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Onde vamos praticar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344" y="4462272"/>
            <a:ext cx="2907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F4F8FC"/>
                </a:solidFill>
                <a:latin typeface="Aptos"/>
              </a:defRPr>
            </a:pPr>
            <a:r>
              <a:t>Floci local: nenhuma infraestrutura AWS real.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A8B8CA"/>
                </a:solidFill>
                <a:latin typeface="Aptos"/>
              </a:defRPr>
            </a:pPr>
            <a:r>
              <a:t>OPENTOFU  /  FUNDAMENTOS DE IaC                                      3 MIN  •  02/12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ADCC2"/>
                </a:solidFill>
                <a:latin typeface="Aptos"/>
              </a:defRPr>
            </a:pPr>
            <a:r>
              <a:t>2014 • ORIGEM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F4F8FC"/>
                </a:solidFill>
                <a:latin typeface="Aptos"/>
              </a:defRPr>
            </a:pPr>
            <a:r>
              <a:t>Terraform: uma década de ecossistema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0835640" cy="1115568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02536"/>
            <a:ext cx="103235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2014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86584"/>
            <a:ext cx="1032357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Terraform é lançado como software open source sob MPL 2.0.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182112"/>
            <a:ext cx="10835640" cy="1115568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355848"/>
            <a:ext cx="103235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Uma linguagem comum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739896"/>
            <a:ext cx="1032357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Configurações declarativas descrevem infraestrutura de provedores diferentes.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535424"/>
            <a:ext cx="10835640" cy="1115568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709160"/>
            <a:ext cx="103235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Efeito de ecossistema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5093208"/>
            <a:ext cx="1032357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Providers, módulos, ferramentas e conhecimento compartilhado crescem ao redor do projeto.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A8B8CA"/>
                </a:solidFill>
                <a:latin typeface="Aptos"/>
              </a:defRPr>
            </a:pPr>
            <a:r>
              <a:t>OPENTOFU  /  FUNDAMENTOS DE IaC                                      4 MIN  •  03/12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ADCC2"/>
                </a:solidFill>
                <a:latin typeface="Aptos"/>
              </a:defRPr>
            </a:pPr>
            <a:r>
              <a:t>10 AGO 2023 • HASHICORP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F4F8FC"/>
                </a:solidFill>
                <a:latin typeface="Aptos"/>
              </a:defRPr>
            </a:pPr>
            <a:r>
              <a:t>A mudança de licença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0835640" cy="1115568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02536"/>
            <a:ext cx="103235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O anúncio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86584"/>
            <a:ext cx="1032357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HashiCorp anuncia a mudança de Terraform e outros produtos 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182112"/>
            <a:ext cx="10835640" cy="1115568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355848"/>
            <a:ext cx="103235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De MPL para BUSL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739896"/>
            <a:ext cx="1032357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Novas versões passam à Business Source License 1.1.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535424"/>
            <a:ext cx="10835640" cy="1115568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709160"/>
            <a:ext cx="103235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O que não significa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5093208"/>
            <a:ext cx="1032357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Não é uma revogação retroativa das versões publicadas sob MPL.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A8B8CA"/>
                </a:solidFill>
                <a:latin typeface="Aptos"/>
              </a:defRPr>
            </a:pPr>
            <a:r>
              <a:t>OPENTOFU  /  FUNDAMENTOS DE IaC                                      3 MIN  •  04/12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ADCC2"/>
                </a:solidFill>
                <a:latin typeface="Aptos"/>
              </a:defRPr>
            </a:pPr>
            <a:r>
              <a:t>FATO HISTÓRICO ≠ OPINIÃO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F4F8FC"/>
                </a:solidFill>
                <a:latin typeface="Aptos"/>
              </a:defRPr>
            </a:pPr>
            <a:r>
              <a:t>Preocupações e resposta comunitária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0835640" cy="1115568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02536"/>
            <a:ext cx="103235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Preocupação citada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86584"/>
            <a:ext cx="1032357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Parte da comunidade questionou previsibilidade e o alcance da concessão de uso.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182112"/>
            <a:ext cx="10835640" cy="1115568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355848"/>
            <a:ext cx="103235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Posição do manifesto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739896"/>
            <a:ext cx="1032357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Os autores consideram a BUSL não open source e defendem uma base aberta.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535424"/>
            <a:ext cx="10835640" cy="1115568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709160"/>
            <a:ext cx="103235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Leitura responsável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5093208"/>
            <a:ext cx="1032357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É uma posição dos autores e apoiadores — não uma decisão judicial nem consenso universal.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A8B8CA"/>
                </a:solidFill>
                <a:latin typeface="Aptos"/>
              </a:defRPr>
            </a:pPr>
            <a:r>
              <a:t>OPENTOFU  /  FUNDAMENTOS DE IaC                                      3 MIN  •  05/12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ADCC2"/>
                </a:solidFill>
                <a:latin typeface="Aptos"/>
              </a:defRPr>
            </a:pPr>
            <a:r>
              <a:t>AGO–SET 2023 • OPEN TOFU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F4F8FC"/>
                </a:solidFill>
                <a:latin typeface="Aptos"/>
              </a:defRPr>
            </a:pPr>
            <a:r>
              <a:t>Do anúncio ao fork público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953512"/>
            <a:ext cx="9144000" cy="41148"/>
          </a:xfrm>
          <a:prstGeom prst="rect">
            <a:avLst/>
          </a:prstGeom>
          <a:solidFill>
            <a:srgbClr val="5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09928" y="2816352"/>
            <a:ext cx="329184" cy="329184"/>
          </a:xfrm>
          <a:prstGeom prst="ellipse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3419856"/>
            <a:ext cx="3063240" cy="1591056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3621024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25 ago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4005072"/>
            <a:ext cx="26517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F4F8FC"/>
                </a:solidFill>
                <a:latin typeface="Aptos"/>
              </a:defRPr>
            </a:pPr>
            <a:r>
              <a:t>Anúncio público da criação do fork chamado OpenTofu.</a:t>
            </a:r>
          </a:p>
        </p:txBody>
      </p:sp>
      <p:sp>
        <p:nvSpPr>
          <p:cNvPr id="11" name="Oval 10"/>
          <p:cNvSpPr/>
          <p:nvPr/>
        </p:nvSpPr>
        <p:spPr>
          <a:xfrm>
            <a:off x="5184648" y="2816352"/>
            <a:ext cx="329184" cy="329184"/>
          </a:xfrm>
          <a:prstGeom prst="ellipse">
            <a:avLst/>
          </a:prstGeom>
          <a:solidFill>
            <a:srgbClr val="FFC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15968" y="3419856"/>
            <a:ext cx="3063240" cy="1591056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3621024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Set 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4005072"/>
            <a:ext cx="26517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F4F8FC"/>
                </a:solidFill>
                <a:latin typeface="Aptos"/>
              </a:defRPr>
            </a:pPr>
            <a:r>
              <a:t>O repositório do projeto é publicado para colaboração aberta.</a:t>
            </a:r>
          </a:p>
        </p:txBody>
      </p:sp>
      <p:sp>
        <p:nvSpPr>
          <p:cNvPr id="15" name="Oval 14"/>
          <p:cNvSpPr/>
          <p:nvPr/>
        </p:nvSpPr>
        <p:spPr>
          <a:xfrm>
            <a:off x="8659367" y="2816352"/>
            <a:ext cx="329184" cy="329184"/>
          </a:xfrm>
          <a:prstGeom prst="ellipse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90688" y="3419856"/>
            <a:ext cx="3063240" cy="1591056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1856" y="3621024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Próximo passo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1856" y="4005072"/>
            <a:ext cx="26517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F4F8FC"/>
                </a:solidFill>
                <a:latin typeface="Aptos"/>
              </a:defRPr>
            </a:pPr>
            <a:r>
              <a:t>Organizar processos, registry e caminho até a primeira versão estável.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A8B8CA"/>
                </a:solidFill>
                <a:latin typeface="Aptos"/>
              </a:defRPr>
            </a:pPr>
            <a:r>
              <a:t>OPENTOFU  /  FUNDAMENTOS DE IaC                                      3 MIN  •  06/12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ADCC2"/>
                </a:solidFill>
                <a:latin typeface="Aptos"/>
              </a:defRPr>
            </a:pPr>
            <a:r>
              <a:t>SET 2023 → JAN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F4F8FC"/>
                </a:solidFill>
                <a:latin typeface="Aptos"/>
              </a:defRPr>
            </a:pPr>
            <a:r>
              <a:t>Fundação e primeira versão estável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953512"/>
            <a:ext cx="9144000" cy="41148"/>
          </a:xfrm>
          <a:prstGeom prst="rect">
            <a:avLst/>
          </a:prstGeom>
          <a:solidFill>
            <a:srgbClr val="5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09928" y="2816352"/>
            <a:ext cx="329184" cy="329184"/>
          </a:xfrm>
          <a:prstGeom prst="ellipse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3419856"/>
            <a:ext cx="3063240" cy="1591056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3621024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Linux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4005072"/>
            <a:ext cx="26517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F4F8FC"/>
                </a:solidFill>
                <a:latin typeface="Aptos"/>
              </a:defRPr>
            </a:pPr>
            <a:r>
              <a:t>Projeto anunciado sob uma fundação neutra em setembro de 2023.</a:t>
            </a:r>
          </a:p>
        </p:txBody>
      </p:sp>
      <p:sp>
        <p:nvSpPr>
          <p:cNvPr id="11" name="Oval 10"/>
          <p:cNvSpPr/>
          <p:nvPr/>
        </p:nvSpPr>
        <p:spPr>
          <a:xfrm>
            <a:off x="5184648" y="2816352"/>
            <a:ext cx="329184" cy="329184"/>
          </a:xfrm>
          <a:prstGeom prst="ellipse">
            <a:avLst/>
          </a:prstGeom>
          <a:solidFill>
            <a:srgbClr val="FFC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15968" y="3419856"/>
            <a:ext cx="3063240" cy="1591056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3621024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OpenTofu 1.6.0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4005072"/>
            <a:ext cx="26517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F4F8FC"/>
                </a:solidFill>
                <a:latin typeface="Aptos"/>
              </a:defRPr>
            </a:pPr>
            <a:r>
              <a:t>Primeira versão estável publicada em janeiro de 2024.</a:t>
            </a:r>
          </a:p>
        </p:txBody>
      </p:sp>
      <p:sp>
        <p:nvSpPr>
          <p:cNvPr id="15" name="Oval 14"/>
          <p:cNvSpPr/>
          <p:nvPr/>
        </p:nvSpPr>
        <p:spPr>
          <a:xfrm>
            <a:off x="8659367" y="2816352"/>
            <a:ext cx="329184" cy="329184"/>
          </a:xfrm>
          <a:prstGeom prst="ellipse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90688" y="3419856"/>
            <a:ext cx="3063240" cy="1591056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1856" y="3621024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Por que importa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1856" y="4005072"/>
            <a:ext cx="26517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F4F8FC"/>
                </a:solidFill>
                <a:latin typeface="Aptos"/>
              </a:defRPr>
            </a:pPr>
            <a:r>
              <a:t>Governança e releases tornam a iniciativa um projeto utilizável e aberto a contribuições.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A8B8CA"/>
                </a:solidFill>
                <a:latin typeface="Aptos"/>
              </a:defRPr>
            </a:pPr>
            <a:r>
              <a:t>OPENTOFU  /  FUNDAMENTOS DE IaC                                      3 MIN  •  07/12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ADCC2"/>
                </a:solidFill>
                <a:latin typeface="Aptos"/>
              </a:defRPr>
            </a:pPr>
            <a:r>
              <a:t>PROJETO COMUNITÁRIO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F4F8FC"/>
                </a:solidFill>
                <a:latin typeface="Aptos"/>
              </a:defRPr>
            </a:pPr>
            <a:r>
              <a:t>Governança e posicionamento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0835640" cy="1115568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02536"/>
            <a:ext cx="103235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Aberto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86584"/>
            <a:ext cx="1032357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Desenvolvimento, propostas e discussões acontecem publicamente.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182112"/>
            <a:ext cx="10835640" cy="1115568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355848"/>
            <a:ext cx="103235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Comunitário e imparcial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739896"/>
            <a:ext cx="1032357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A proposta é avaliar contribuições pelo valor para o projeto, não por um fornecedor.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535424"/>
            <a:ext cx="10835640" cy="1115568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709160"/>
            <a:ext cx="103235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Compatibilidade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5093208"/>
            <a:ext cx="1032357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OpenTofu nasce como fork do Terraform e mantém foco em configurações compatíveis.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A8B8CA"/>
                </a:solidFill>
                <a:latin typeface="Aptos"/>
              </a:defRPr>
            </a:pPr>
            <a:r>
              <a:t>OPENTOFU  /  FUNDAMENTOS DE IaC                                      3 MIN  •  08/12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ADCC2"/>
                </a:solidFill>
                <a:latin typeface="Aptos"/>
              </a:defRPr>
            </a:pPr>
            <a:r>
              <a:t>CONFIGURAÇÃO → PLANO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F4F8FC"/>
                </a:solidFill>
                <a:latin typeface="Aptos"/>
              </a:defRPr>
            </a:pPr>
            <a:r>
              <a:t>IaC declarativa: declarar o desejado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246120" cy="205740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670048"/>
            <a:ext cx="5303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FC55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136392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3ADCC2"/>
                </a:solidFill>
                <a:latin typeface="Aptos"/>
              </a:defRPr>
            </a:pPr>
            <a:r>
              <a:t>Declarar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639312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Escrevemos o estado desejado em HCL, não uma lista manual de chamadas API.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0791" y="321868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500" b="1">
                <a:solidFill>
                  <a:srgbClr val="3ADCC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2468880"/>
            <a:ext cx="3246120" cy="2057400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670048"/>
            <a:ext cx="5303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FC55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3136392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3ADCC2"/>
                </a:solidFill>
                <a:latin typeface="Aptos"/>
              </a:defRPr>
            </a:pPr>
            <a:r>
              <a:t>Comparar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639312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OpenTofu lê a configuração, o state e o que o provider observa.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7263" y="321868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500" b="1">
                <a:solidFill>
                  <a:srgbClr val="3ADCC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4" y="2468880"/>
            <a:ext cx="3246120" cy="205740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670048"/>
            <a:ext cx="5303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FC55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136392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3ADCC2"/>
                </a:solidFill>
                <a:latin typeface="Aptos"/>
              </a:defRPr>
            </a:pPr>
            <a:r>
              <a:t>Revisar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639312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O plan mostra as ações propostas antes de qualquer apply.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A8B8CA"/>
                </a:solidFill>
                <a:latin typeface="Aptos"/>
              </a:defRPr>
            </a:pPr>
            <a:r>
              <a:t>OPENTOFU  /  FUNDAMENTOS DE IaC                                      2 MIN  •  09/12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ADCC2"/>
                </a:solidFill>
                <a:latin typeface="Aptos"/>
              </a:defRPr>
            </a:pPr>
            <a:r>
              <a:t>HCL • PROVIDER • RESOURCE •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F4F8FC"/>
                </a:solidFill>
                <a:latin typeface="Aptos"/>
              </a:defRPr>
            </a:pPr>
            <a:r>
              <a:t>As peças da configuração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230368" cy="1572768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02536"/>
            <a:ext cx="471830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Provider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86584"/>
            <a:ext cx="4718304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Plugin que conversa com uma API, como AWS S3.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230368" cy="1572768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2002536"/>
            <a:ext cx="471830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Resource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386584"/>
            <a:ext cx="4718304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Objeto que a configuração declara e OpenTofu gerencia.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03320"/>
            <a:ext cx="5230368" cy="1572768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877056"/>
            <a:ext cx="471830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Variable /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261104"/>
            <a:ext cx="4718304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Entradas parametrizam; outputs expõem valores do módulo.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703320"/>
            <a:ext cx="5230368" cy="1572768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3877056"/>
            <a:ext cx="471830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Módulo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4261104"/>
            <a:ext cx="4718304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Agrupa configuração reutilizável com inputs e outputs.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A8B8CA"/>
                </a:solidFill>
                <a:latin typeface="Aptos"/>
              </a:defRPr>
            </a:pPr>
            <a:r>
              <a:t>OPENTOFU  /  FUNDAMENTOS DE IaC                                      1 MIN  •  10/12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ADCC2"/>
                </a:solidFill>
                <a:latin typeface="Aptos"/>
              </a:defRPr>
            </a:pPr>
            <a:r>
              <a:t>GRAFO DE RECURSOS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F4F8FC"/>
                </a:solidFill>
                <a:latin typeface="Aptos"/>
              </a:defRPr>
            </a:pPr>
            <a:r>
              <a:t>Referências e dependências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246120" cy="205740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670048"/>
            <a:ext cx="5303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FC55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136392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3ADCC2"/>
                </a:solidFill>
                <a:latin typeface="Aptos"/>
              </a:defRPr>
            </a:pPr>
            <a:r>
              <a:t>Entradas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639312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Variáveis e locals calculam nomes e tags.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0791" y="321868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500" b="1">
                <a:solidFill>
                  <a:srgbClr val="3ADCC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2468880"/>
            <a:ext cx="3246120" cy="2057400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670048"/>
            <a:ext cx="5303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FC55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3136392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3ADCC2"/>
                </a:solidFill>
                <a:latin typeface="Aptos"/>
              </a:defRPr>
            </a:pPr>
            <a:r>
              <a:t>Referência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639312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O módulo recebe valores e declara o bucket.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7263" y="321868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500" b="1">
                <a:solidFill>
                  <a:srgbClr val="3ADCC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4" y="2468880"/>
            <a:ext cx="3246120" cy="205740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670048"/>
            <a:ext cx="5303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FC55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136392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3ADCC2"/>
                </a:solidFill>
                <a:latin typeface="Aptos"/>
              </a:defRPr>
            </a:pPr>
            <a:r>
              <a:t>Dependência implícita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639312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Uma referência entre recursos informa a ordem ao OpenTofu.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A8B8CA"/>
                </a:solidFill>
                <a:latin typeface="Aptos"/>
              </a:defRPr>
            </a:pPr>
            <a:r>
              <a:t>OPENTOFU  /  FUNDAMENTOS DE IaC                                      3 MIN  •  11/12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ADCC2"/>
                </a:solidFill>
                <a:latin typeface="Aptos"/>
              </a:defRPr>
            </a:pPr>
            <a:r>
              <a:t>INIT → PLAN → APPLY → DESTROY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F4F8FC"/>
                </a:solidFill>
                <a:latin typeface="Aptos"/>
              </a:defRPr>
            </a:pPr>
            <a:r>
              <a:t>State e ciclo de execução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230368" cy="1572768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02536"/>
            <a:ext cx="471830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init · fmt ·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86584"/>
            <a:ext cx="4718304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Inicializa providers e módulos; formata e valida a configuração.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230368" cy="1572768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2002536"/>
            <a:ext cx="471830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plan ·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386584"/>
            <a:ext cx="4718304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Revise as mudanças propostas; aplique somente após confirmação.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03320"/>
            <a:ext cx="5230368" cy="1572768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877056"/>
            <a:ext cx="471830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State e drift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261104"/>
            <a:ext cx="4718304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State mapeia recursos; drift é diferença observada entre o gerenciado e a infraestrutura.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703320"/>
            <a:ext cx="5230368" cy="1572768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3877056"/>
            <a:ext cx="471830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ADCC2"/>
                </a:solidFill>
                <a:latin typeface="Aptos"/>
              </a:defRPr>
            </a:pPr>
            <a:r>
              <a:t>Cuidado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4261104"/>
            <a:ext cx="4718304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State local pode conter dados sensíveis; sensitive não criptografa.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A8B8CA"/>
                </a:solidFill>
                <a:latin typeface="Aptos"/>
              </a:defRPr>
            </a:pPr>
            <a:r>
              <a:t>OPENTOFU  /  FUNDAMENTOS DE IaC                                      1 MIN  •  12/12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ADCC2"/>
                </a:solidFill>
                <a:latin typeface="Aptos"/>
              </a:defRPr>
            </a:pPr>
            <a:r>
              <a:t>DISCUSSÃO • 30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F4F8FC"/>
                </a:solidFill>
                <a:latin typeface="Aptos"/>
              </a:defRPr>
            </a:pPr>
            <a:r>
              <a:t>Perguntas para levar ao laboratório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755648"/>
            <a:ext cx="10652760" cy="621792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01952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ADCC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83664"/>
            <a:ext cx="9418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0">
                <a:solidFill>
                  <a:srgbClr val="F4F8FC"/>
                </a:solidFill>
                <a:latin typeface="Aptos"/>
              </a:defRPr>
            </a:pPr>
            <a:r>
              <a:t>Por que previsibilidade de licença importa para quem mantém ferramentas?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569464"/>
            <a:ext cx="10652760" cy="621792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715768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ADCC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697480"/>
            <a:ext cx="9418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0">
                <a:solidFill>
                  <a:srgbClr val="F4F8FC"/>
                </a:solidFill>
                <a:latin typeface="Aptos"/>
              </a:defRPr>
            </a:pPr>
            <a:r>
              <a:t>Quem deve participar das decisões de um projeto de infraestrutura?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383280"/>
            <a:ext cx="10652760" cy="621792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529584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ADCC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511296"/>
            <a:ext cx="9418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0">
                <a:solidFill>
                  <a:srgbClr val="F4F8FC"/>
                </a:solidFill>
                <a:latin typeface="Aptos"/>
              </a:defRPr>
            </a:pPr>
            <a:r>
              <a:t>Quando um plan deve ser tratado como revisão de mudança?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197096"/>
            <a:ext cx="10652760" cy="621792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343400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ADCC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325112"/>
            <a:ext cx="9418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0">
                <a:solidFill>
                  <a:srgbClr val="F4F8FC"/>
                </a:solidFill>
                <a:latin typeface="Aptos"/>
              </a:defRPr>
            </a:pPr>
            <a:r>
              <a:t>O que pode dar errado ao compartilhar state copiando arquivos?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5010912"/>
            <a:ext cx="10652760" cy="621792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5157216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ADCC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5138928"/>
            <a:ext cx="9418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0">
                <a:solidFill>
                  <a:srgbClr val="F4F8FC"/>
                </a:solidFill>
                <a:latin typeface="Aptos"/>
              </a:defRPr>
            </a:pPr>
            <a:r>
              <a:t>Que diferenças podem existir entre Floci e AWS?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OpenTofu e fundamentos de IaC</dc:title>
  <dc:subject>Apresentação introdutória de 30 minutos</dc:subject>
  <dc:creator>Minicurso OpenTofu com Floci</dc:creator>
  <cp:keywords>OpenTofu, IaC, Terraform, Floci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